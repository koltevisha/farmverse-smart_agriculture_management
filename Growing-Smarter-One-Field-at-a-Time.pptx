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7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embeddedFontLst>
    <p:embeddedFont>
      <p:font typeface="Inter" panose="02000503000000020004" pitchFamily="34" charset="0"/>
      <p:regular r:id="rId18"/>
    </p:embeddedFont>
    <p:embeddedFont>
      <p:font typeface="Inter" panose="02000503000000020004" pitchFamily="34" charset="-122"/>
      <p:regular r:id="rId19"/>
    </p:embeddedFont>
    <p:embeddedFont>
      <p:font typeface="Inter" panose="02000503000000020004" pitchFamily="34" charset="-120"/>
      <p:regular r:id="rId20"/>
    </p:embeddedFont>
    <p:embeddedFont>
      <p:font typeface="Manrope" pitchFamily="34" charset="0"/>
      <p:regular r:id="rId21"/>
    </p:embeddedFont>
    <p:embeddedFont>
      <p:font typeface="Manrope" pitchFamily="34" charset="-122"/>
      <p:regular r:id="rId22"/>
    </p:embeddedFont>
    <p:embeddedFont>
      <p:font typeface="Manrope" pitchFamily="34" charset="-120"/>
      <p:regular r:id="rId23"/>
    </p:embeddedFont>
    <p:embeddedFont>
      <p:font typeface="Manrope Bold" pitchFamily="34" charset="0"/>
      <p:bold r:id="rId24"/>
    </p:embeddedFont>
    <p:embeddedFont>
      <p:font typeface="Manrope Bold" pitchFamily="34" charset="-122"/>
      <p:bold r:id="rId25"/>
    </p:embeddedFont>
    <p:embeddedFont>
      <p:font typeface="Manrope Bold" pitchFamily="34" charset="-120"/>
      <p:bold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6.png"/><Relationship Id="rId12" Type="http://schemas.openxmlformats.org/officeDocument/2006/relationships/image" Target="../media/image18.svg"/><Relationship Id="rId11" Type="http://schemas.openxmlformats.org/officeDocument/2006/relationships/image" Target="../media/image17.png"/><Relationship Id="rId10" Type="http://schemas.openxmlformats.org/officeDocument/2006/relationships/image" Target="../media/image16.sv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6.png"/><Relationship Id="rId15" Type="http://schemas.openxmlformats.org/officeDocument/2006/relationships/image" Target="../media/image33.jpeg"/><Relationship Id="rId14" Type="http://schemas.openxmlformats.org/officeDocument/2006/relationships/image" Target="../media/image32.svg"/><Relationship Id="rId13" Type="http://schemas.openxmlformats.org/officeDocument/2006/relationships/image" Target="../media/image31.png"/><Relationship Id="rId12" Type="http://schemas.openxmlformats.org/officeDocument/2006/relationships/image" Target="../media/image30.svg"/><Relationship Id="rId11" Type="http://schemas.openxmlformats.org/officeDocument/2006/relationships/image" Target="../media/image29.png"/><Relationship Id="rId10" Type="http://schemas.openxmlformats.org/officeDocument/2006/relationships/image" Target="../media/image28.svg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image" Target="../media/image35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image" Target="../media/image43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image" Target="../media/image55.svg"/><Relationship Id="rId7" Type="http://schemas.openxmlformats.org/officeDocument/2006/relationships/image" Target="../media/image54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6.png"/><Relationship Id="rId10" Type="http://schemas.openxmlformats.org/officeDocument/2006/relationships/image" Target="../media/image57.svg"/><Relationship Id="rId1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Growing Smarter, One Field at a Time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07593"/>
            <a:ext cx="5179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FarmVerse — Smart Farm &amp; Crop Management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79524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Problem Statement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135112"/>
            <a:ext cx="4722763" cy="10817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62127" y="1295921"/>
            <a:ext cx="432494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Fragmented Tracking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162127" y="1602432"/>
            <a:ext cx="432494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Crops, sowing/harvest cycles, and yields managed manually or across disconnected spreadsheets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2358628"/>
            <a:ext cx="4722763" cy="10817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62127" y="2519437"/>
            <a:ext cx="432494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 Central System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162127" y="2825948"/>
            <a:ext cx="432494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single platform to manage multiple farms, crops, and yield history together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3582144"/>
            <a:ext cx="4722763" cy="10817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62127" y="3742953"/>
            <a:ext cx="432494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Poor Decision-Making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162127" y="4049464"/>
            <a:ext cx="432494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Without structured records, harvest planning and data-driven decisions are nearly impossible</a:t>
            </a:r>
            <a:endParaRPr lang="en-US" sz="11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175" y="4876165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2645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Proposed Solution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818233"/>
            <a:ext cx="4107135" cy="2162547"/>
          </a:xfrm>
          <a:prstGeom prst="roundRect">
            <a:avLst>
              <a:gd name="adj" fmla="val 9440"/>
            </a:avLst>
          </a:prstGeom>
          <a:solidFill>
            <a:srgbClr val="1F5D42"/>
          </a:solidFill>
        </p:spPr>
      </p:sp>
      <p:sp>
        <p:nvSpPr>
          <p:cNvPr id="4" name="Text 2"/>
          <p:cNvSpPr/>
          <p:nvPr/>
        </p:nvSpPr>
        <p:spPr>
          <a:xfrm>
            <a:off x="535781" y="1959992"/>
            <a:ext cx="382361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FarmVerse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323207"/>
            <a:ext cx="3823618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centralized web platform for farmers to register, manage multiple farms, track crops, and monitor yield and harvest timelines — all in one dashboard.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10398" y="2026369"/>
            <a:ext cx="344224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Secure Login &amp; Registration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210398" y="2628826"/>
            <a:ext cx="344224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Add, View &amp; Delete Farms and Crops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210398" y="3231282"/>
            <a:ext cx="344224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Detailed Crop Insights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210398" y="3594497"/>
            <a:ext cx="3442246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Sown/harvest months, yield data, soil type</a:t>
            </a:r>
            <a:endParaRPr lang="en-US" sz="11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175" y="4836160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694"/>
            <a:ext cx="8151763" cy="3807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Key Features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025723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2697" y="1152302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156" y="1252761"/>
            <a:ext cx="164455" cy="164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97" y="1622375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Secure Authentication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2697" y="1875532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Login &amp; Registration with validation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24313" y="1025723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0891" y="1152302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1350" y="1252761"/>
            <a:ext cx="164455" cy="1644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0891" y="1622375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Farm Management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750891" y="1875532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Add, view, and manage multiple farms per user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96119" y="2287935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2697" y="2414513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156" y="2514972"/>
            <a:ext cx="164455" cy="1644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2697" y="2884587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Crop Management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22697" y="3137743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Add, track, and delete crops linked to specific farms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24313" y="2287935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50891" y="2414513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1350" y="2514972"/>
            <a:ext cx="164455" cy="1644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0891" y="2884587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Crop Yield Details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750891" y="3137743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Soil type, sown/harvest month, yield per acre, insights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96119" y="3550146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22697" y="3676724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3156" y="3777183"/>
            <a:ext cx="164455" cy="16445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2697" y="4146798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Responsive Modern UI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622697" y="4399955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 dashboard-style interface built for usability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24313" y="3550146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50891" y="3676724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51350" y="3777183"/>
            <a:ext cx="164455" cy="16445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50891" y="4146798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Validation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4750891" y="4399955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Form-level validation across all entry points</a:t>
            </a:r>
            <a:endParaRPr lang="en-US" sz="95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5175" y="4812665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7062"/>
            <a:ext cx="8151763" cy="359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Tech Stack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32570"/>
            <a:ext cx="2670423" cy="103323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016" y="1462757"/>
            <a:ext cx="172715" cy="1727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64642" y="1161976"/>
            <a:ext cx="1972494" cy="179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64642" y="1435447"/>
            <a:ext cx="1972494" cy="5009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React.js, React Router, Axios, custom CSS — component-based architecture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159347"/>
            <a:ext cx="2670423" cy="699269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016" y="2422550"/>
            <a:ext cx="172715" cy="17271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64642" y="2288753"/>
            <a:ext cx="1972494" cy="179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064642" y="2562225"/>
            <a:ext cx="1972494" cy="1669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Spring Boot / Java REST APIs</a:t>
            </a:r>
            <a:endParaRPr lang="en-US" sz="9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52155"/>
            <a:ext cx="2670423" cy="699269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2016" y="3215357"/>
            <a:ext cx="172715" cy="17271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064642" y="3081561"/>
            <a:ext cx="1972494" cy="179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Text 6"/>
          <p:cNvSpPr/>
          <p:nvPr/>
        </p:nvSpPr>
        <p:spPr>
          <a:xfrm>
            <a:off x="1064642" y="3355032"/>
            <a:ext cx="1972494" cy="1669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</a:t>
            </a:r>
            <a:endParaRPr lang="en-US" sz="9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6119" y="3744962"/>
            <a:ext cx="2670423" cy="866254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2016" y="4091657"/>
            <a:ext cx="172715" cy="17271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064642" y="3874368"/>
            <a:ext cx="1972494" cy="179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API Communication</a:t>
            </a:r>
            <a:endParaRPr lang="en-US" sz="1100" dirty="0"/>
          </a:p>
        </p:txBody>
      </p:sp>
      <p:sp>
        <p:nvSpPr>
          <p:cNvPr id="18" name="Text 8"/>
          <p:cNvSpPr/>
          <p:nvPr/>
        </p:nvSpPr>
        <p:spPr>
          <a:xfrm>
            <a:off x="1064642" y="4147840"/>
            <a:ext cx="1972494" cy="3339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 endpoints with credential-based sessions</a:t>
            </a:r>
            <a:endParaRPr lang="en-US" sz="9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52292" y="1348457"/>
            <a:ext cx="5200278" cy="294679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28180" y="4857115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System Architecture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3070" y="682154"/>
            <a:ext cx="5497860" cy="41324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8438" y="2547635"/>
            <a:ext cx="1002663" cy="687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Three-tier Architecture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68356" y="3837009"/>
            <a:ext cx="1491639" cy="2292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REST API Layer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568356" y="4131491"/>
            <a:ext cx="1491639" cy="1375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Spring Boot services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071265" y="3653596"/>
            <a:ext cx="1491639" cy="4585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PostgreSQL Database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071265" y="4177344"/>
            <a:ext cx="1491639" cy="2751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Persistent relational store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799431" y="943147"/>
            <a:ext cx="1532397" cy="4585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React SPA (Client)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799431" y="1466895"/>
            <a:ext cx="1532397" cy="2751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Component-based frontend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96119" y="4854401"/>
            <a:ext cx="8608963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clean 3-tier architecture — component-based React frontend, dedicated service layers (CropService, FarmService, LoginService) calling REST endpoints, backed by a PostgreSQL database.</a:t>
            </a:r>
            <a:endParaRPr lang="en-US" sz="5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175" y="4835525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38621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UI/UX Highlights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8250" y="1298600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6" y="1294209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Themed Login &amp; Registration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1600721"/>
            <a:ext cx="426206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Custom-designed experience with FarmVerse branding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8250" y="2115443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111053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Tables with Inline Actions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2417564"/>
            <a:ext cx="426206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Farm List and Crop List with View Yield and Delete actions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8250" y="2932286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2927896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Dedicated Crop Detail View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234407"/>
            <a:ext cx="426206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Farm name, soil type, crop area, sown/harvest month, yield per acre, insights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8250" y="3975943"/>
            <a:ext cx="212601" cy="2126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85816" y="3971553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Real-Time Form Validation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385816" y="4278064"/>
            <a:ext cx="426206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Inline error feedback across all entry points</a:t>
            </a:r>
            <a:endParaRPr lang="en-US" sz="11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200" y="4852670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9940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Core Modules — End-to-End Farmer Workflow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56445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265238"/>
            <a:ext cx="24337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Register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556445"/>
            <a:ext cx="2717229" cy="567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55107" y="2265238"/>
            <a:ext cx="24337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Login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556445"/>
            <a:ext cx="2717229" cy="5670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72336" y="2265238"/>
            <a:ext cx="24337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Farmer Dashboard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628454"/>
            <a:ext cx="2717229" cy="5670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7877" y="3337247"/>
            <a:ext cx="24337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Add Farm / Crop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348" y="2628454"/>
            <a:ext cx="2717229" cy="56703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355107" y="3337247"/>
            <a:ext cx="24337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View Crop Yield Details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96119" y="3859932"/>
            <a:ext cx="8151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step of the farmer journey — from onboarding to detailed crop yield insights — is handled within a single, cohesive platform.</a:t>
            </a:r>
            <a:endParaRPr lang="en-US" sz="11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5175" y="4843780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6863"/>
            <a:ext cx="8151763" cy="3945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Challenges &amp; Solutions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82613"/>
            <a:ext cx="5190753" cy="294136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9708" y="1186532"/>
            <a:ext cx="2652861" cy="9725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97352" y="1327026"/>
            <a:ext cx="2314724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Consistency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197352" y="1636737"/>
            <a:ext cx="2314724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Ensuring integrity between farm and crop relationships across all operations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9708" y="2271564"/>
            <a:ext cx="2652861" cy="11635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97352" y="2412057"/>
            <a:ext cx="2314724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Clean API Integration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197352" y="2721769"/>
            <a:ext cx="2314724" cy="5728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Structuring reusable service functions (CropService, FarmService, LoginService) for maintainable code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9708" y="3547542"/>
            <a:ext cx="2652861" cy="9725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97352" y="3688035"/>
            <a:ext cx="2314724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Intuitive Multi-Step Flow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197352" y="3997747"/>
            <a:ext cx="2314724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Building a seamless user journey from registration through to crop tracking</a:t>
            </a:r>
            <a:endParaRPr lang="en-US" sz="9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5175" y="4815205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7895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Future Enhancements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84400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2033067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Yield Prediction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339578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ML integration using historical yield data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984400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3130" y="2033067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Weather API Integration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33130" y="2339578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weather data for smarter crop planning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984400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9445" y="2033067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Analytics Dashboard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09445" y="2339578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Charts for yield trends across seasons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6816" y="3125391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56816" y="3431902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Native mobile version for on-field access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33130" y="3125391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Multi-Language Support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733130" y="3431902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Localization for farmers across regions</a:t>
            </a:r>
            <a:endParaRPr lang="en-US" sz="11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5175" y="4852670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929"/>
            <a:ext cx="8151763" cy="352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Learnings, Takeaways &amp; Thank You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4784" y="893862"/>
            <a:ext cx="4100736" cy="3843635"/>
          </a:xfrm>
          <a:prstGeom prst="roundRect">
            <a:avLst>
              <a:gd name="adj" fmla="val 4232"/>
            </a:avLst>
          </a:prstGeom>
          <a:solidFill>
            <a:srgbClr val="1F5D42"/>
          </a:solidFill>
        </p:spPr>
      </p:sp>
      <p:sp>
        <p:nvSpPr>
          <p:cNvPr id="4" name="Text 2"/>
          <p:cNvSpPr/>
          <p:nvPr/>
        </p:nvSpPr>
        <p:spPr>
          <a:xfrm>
            <a:off x="527745" y="983828"/>
            <a:ext cx="38748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Key Learnings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7745" y="1261542"/>
            <a:ext cx="225921" cy="141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27745" y="1439168"/>
            <a:ext cx="3874815" cy="14288"/>
          </a:xfrm>
          <a:prstGeom prst="rect">
            <a:avLst/>
          </a:prstGeom>
          <a:solidFill>
            <a:srgbClr val="FF7047"/>
          </a:solidFill>
        </p:spPr>
      </p:sp>
      <p:sp>
        <p:nvSpPr>
          <p:cNvPr id="7" name="Text 5"/>
          <p:cNvSpPr/>
          <p:nvPr/>
        </p:nvSpPr>
        <p:spPr>
          <a:xfrm>
            <a:off x="527745" y="1524223"/>
            <a:ext cx="38748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Full-Stack Integration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7745" y="1790700"/>
            <a:ext cx="3874815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Frontend–backend–database end-to-end development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27745" y="2127721"/>
            <a:ext cx="225921" cy="141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7745" y="2305348"/>
            <a:ext cx="3874815" cy="14288"/>
          </a:xfrm>
          <a:prstGeom prst="rect">
            <a:avLst/>
          </a:prstGeom>
          <a:solidFill>
            <a:srgbClr val="FF7047"/>
          </a:solidFill>
        </p:spPr>
      </p:sp>
      <p:sp>
        <p:nvSpPr>
          <p:cNvPr id="11" name="Text 9"/>
          <p:cNvSpPr/>
          <p:nvPr/>
        </p:nvSpPr>
        <p:spPr>
          <a:xfrm>
            <a:off x="527745" y="2390403"/>
            <a:ext cx="38748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REST API Design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7745" y="2656880"/>
            <a:ext cx="3874815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Designing and consuming structured REST endpoints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27745" y="2993901"/>
            <a:ext cx="225921" cy="141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7745" y="3171527"/>
            <a:ext cx="3874815" cy="14288"/>
          </a:xfrm>
          <a:prstGeom prst="rect">
            <a:avLst/>
          </a:prstGeom>
          <a:solidFill>
            <a:srgbClr val="FF7047"/>
          </a:solidFill>
        </p:spPr>
      </p:sp>
      <p:sp>
        <p:nvSpPr>
          <p:cNvPr id="15" name="Text 13"/>
          <p:cNvSpPr/>
          <p:nvPr/>
        </p:nvSpPr>
        <p:spPr>
          <a:xfrm>
            <a:off x="527745" y="3256583"/>
            <a:ext cx="38748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React State Management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7745" y="3523059"/>
            <a:ext cx="3874815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Real-world form validation and component state in React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27745" y="3860081"/>
            <a:ext cx="225921" cy="141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7745" y="4037707"/>
            <a:ext cx="3874815" cy="14288"/>
          </a:xfrm>
          <a:prstGeom prst="rect">
            <a:avLst/>
          </a:prstGeom>
          <a:solidFill>
            <a:srgbClr val="FF7047"/>
          </a:solidFill>
        </p:spPr>
      </p:sp>
      <p:sp>
        <p:nvSpPr>
          <p:cNvPr id="19" name="Text 17"/>
          <p:cNvSpPr/>
          <p:nvPr/>
        </p:nvSpPr>
        <p:spPr>
          <a:xfrm>
            <a:off x="527745" y="4122762"/>
            <a:ext cx="38748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Usability-First UI/UX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7745" y="4389239"/>
            <a:ext cx="3874815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Applying design principles for accessible, intuitive interfaces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84018" y="1085031"/>
            <a:ext cx="3768626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84018" y="1351508"/>
            <a:ext cx="3768626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appreciate the opportunity to present </a:t>
            </a:r>
            <a:r>
              <a:rPr lang="en-US" sz="8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FarmVerse</a:t>
            </a: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as part of the Infosys Internship Project Review.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4577" y="995065"/>
            <a:ext cx="14288" cy="762149"/>
          </a:xfrm>
          <a:prstGeom prst="roundRect">
            <a:avLst>
              <a:gd name="adj" fmla="val 49998"/>
            </a:avLst>
          </a:prstGeom>
          <a:solidFill>
            <a:srgbClr val="FF7047"/>
          </a:solidFill>
        </p:spPr>
      </p:sp>
      <p:sp>
        <p:nvSpPr>
          <p:cNvPr id="24" name="Text 22"/>
          <p:cNvSpPr/>
          <p:nvPr/>
        </p:nvSpPr>
        <p:spPr>
          <a:xfrm>
            <a:off x="4485977" y="1858417"/>
            <a:ext cx="4395267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Questions &amp; Feedback Welcome</a:t>
            </a:r>
            <a:endParaRPr lang="en-US" sz="85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4690" y="4844415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3409</Words>
  <Application>WPS Presentation</Application>
  <PresentationFormat>On-screen Show (16:9)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2" baseType="lpstr">
      <vt:lpstr>Arial</vt:lpstr>
      <vt:lpstr>SimSun</vt:lpstr>
      <vt:lpstr>Wingdings</vt:lpstr>
      <vt:lpstr>Inter</vt:lpstr>
      <vt:lpstr>Inter</vt:lpstr>
      <vt:lpstr>Inter</vt:lpstr>
      <vt:lpstr>Manrope</vt:lpstr>
      <vt:lpstr>Manrope</vt:lpstr>
      <vt:lpstr>Manrope</vt:lpstr>
      <vt:lpstr>Inter Light</vt:lpstr>
      <vt:lpstr>Segoe Print</vt:lpstr>
      <vt:lpstr>Inter Light</vt:lpstr>
      <vt:lpstr>Inter Light</vt:lpstr>
      <vt:lpstr>Manrope Bold</vt:lpstr>
      <vt:lpstr>Manrope Bold</vt:lpstr>
      <vt:lpstr>Manrope Bold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hp</cp:lastModifiedBy>
  <cp:revision>3</cp:revision>
  <dcterms:created xsi:type="dcterms:W3CDTF">2026-08-15T14:19:00Z</dcterms:created>
  <dcterms:modified xsi:type="dcterms:W3CDTF">2026-08-16T16:10:52Z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91E75F797DE74AC4B0B2CDEF5D4FADBE_13</vt:lpwstr>
  </property>
</Properties>
</file>